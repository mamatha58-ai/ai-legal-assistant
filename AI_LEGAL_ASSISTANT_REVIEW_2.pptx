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82880"/>
            <a:ext cx="4572000" cy="59070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180000"/>
            <a:ext cx="82296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5719"/>
                </a:solidFill>
                <a:latin typeface="Times New Roman"/>
              </a:rPr>
              <a:t>Natural Language Processing Project</a:t>
            </a:r>
          </a:p>
          <a:p>
            <a:pPr algn="ctr"/>
            <a:r>
              <a:rPr sz="2200" b="1">
                <a:solidFill>
                  <a:srgbClr val="008000"/>
                </a:solidFill>
                <a:latin typeface="Times New Roman"/>
              </a:rPr>
              <a:t>REVIEW - 2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00000"/>
            <a:ext cx="84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8000"/>
                </a:solidFill>
                <a:latin typeface="Times New Roman"/>
              </a:rPr>
              <a:t>AI LEGAL ASSISTANT</a:t>
            </a:r>
          </a:p>
          <a:p>
            <a:pPr algn="ctr"/>
            <a:r>
              <a:rPr sz="1600">
                <a:solidFill>
                  <a:srgbClr val="3C3C3C"/>
                </a:solidFill>
                <a:latin typeface="Times New Roman"/>
              </a:rPr>
              <a:t>(LexAI: Intelligent Document Risk Analyzer &amp; Legal Summarizer)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00000"/>
            <a:ext cx="82296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D21E1E"/>
                </a:solidFill>
                <a:latin typeface="Times New Roman"/>
              </a:rPr>
              <a:t>Presented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00000" y="4100000"/>
            <a:ext cx="4700000" cy="1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Times New Roman"/>
              </a:rPr>
              <a:t>Arpan Mandal (24B11CS020)</a:t>
            </a:r>
          </a:p>
          <a:p>
            <a:pPr algn="l"/>
            <a:r>
              <a:rPr sz="2000" b="1">
                <a:solidFill>
                  <a:srgbClr val="141414"/>
                </a:solidFill>
                <a:latin typeface="Times New Roman"/>
              </a:rPr>
              <a:t>V. Brunda (24B11CS485)</a:t>
            </a:r>
          </a:p>
          <a:p>
            <a:pPr algn="l"/>
            <a:r>
              <a:rPr sz="2000" b="1">
                <a:solidFill>
                  <a:srgbClr val="141414"/>
                </a:solidFill>
                <a:latin typeface="Times New Roman"/>
              </a:rPr>
              <a:t>A. Hemanth Siva Kumar (25B21CS071)</a:t>
            </a:r>
          </a:p>
          <a:p>
            <a:pPr algn="l"/>
            <a:r>
              <a:rPr sz="2000" b="1">
                <a:solidFill>
                  <a:srgbClr val="141414"/>
                </a:solidFill>
                <a:latin typeface="Times New Roman"/>
              </a:rPr>
              <a:t>Ch. Gowtham (25B21CS074)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50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70C0"/>
                </a:solidFill>
                <a:latin typeface="Times New Roman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88720" cy="4343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68880" y="274320"/>
            <a:ext cx="5120640" cy="457200"/>
          </a:xfrm>
          <a:prstGeom prst="roundRect">
            <a:avLst/>
          </a:prstGeom>
          <a:solidFill>
            <a:srgbClr val="FF6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PROJECT OVERVIEW &amp;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50000"/>
            <a:ext cx="8595360" cy="6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F2D5F"/>
                </a:solidFill>
                <a:latin typeface="Times New Roman"/>
              </a:rPr>
              <a:t>The AI Legal Assistant (LexAI): </a:t>
            </a:r>
            <a:r>
              <a:rPr sz="1700" b="0">
                <a:solidFill>
                  <a:srgbClr val="3C3C3C"/>
                </a:solidFill>
                <a:latin typeface="Times New Roman"/>
              </a:rPr>
              <a:t>An NLP-driven intelligent legal decision-support system designed to simplify complex Indian legal documents for everyday citizens and businesses.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Times New Roman"/>
              </a:rPr>
              <a:t>Core Problem Addressed: </a:t>
            </a:r>
            <a:r>
              <a:rPr sz="1700" b="0">
                <a:solidFill>
                  <a:srgbClr val="3C3C3C"/>
                </a:solidFill>
                <a:latin typeface="Times New Roman"/>
              </a:rPr>
              <a:t>Legal instruments (House Leases, Vehicle Sale Deeds, Bank Loans, Gold Loan Pledges) contain dense legalese, hidden liability traps, and obscure statutory penalties that ordinary users cannot easily understand.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Times New Roman"/>
              </a:rPr>
              <a:t>Review 1 Accomplishments: </a:t>
            </a:r>
            <a:r>
              <a:rPr sz="1700" b="0">
                <a:solidFill>
                  <a:srgbClr val="3C3C3C"/>
                </a:solidFill>
                <a:latin typeface="Times New Roman"/>
              </a:rPr>
              <a:t>Finalized problem formulation, dataset design across 4 primary Indian legal domains, baseline architecture, and technology stack.</a:t>
            </a:r>
          </a:p>
          <a:p>
            <a:pPr>
              <a:spcAft>
                <a:spcPts val="600"/>
              </a:spcAft>
            </a:pPr>
            <a:r>
              <a:rPr sz="1750" b="1">
                <a:solidFill>
                  <a:srgbClr val="FF6A0D"/>
                </a:solidFill>
                <a:latin typeface="Times New Roman"/>
              </a:rPr>
              <a:t>Review 2 Scope &amp; Objectives: </a:t>
            </a:r>
          </a:p>
          <a:p>
            <a:pPr>
              <a:spcAft>
                <a:spcPts val="600"/>
              </a:spcAft>
            </a:pPr>
            <a:r>
              <a:rPr sz="1650" b="1">
                <a:solidFill>
                  <a:srgbClr val="0F2D5F"/>
                </a:solidFill>
                <a:latin typeface="Times New Roman"/>
              </a:rPr>
              <a:t>  * Demonstration of Completed Modules: </a:t>
            </a:r>
            <a:r>
              <a:rPr sz="1650" b="0">
                <a:solidFill>
                  <a:srgbClr val="3C3C3C"/>
                </a:solidFill>
                <a:latin typeface="Times New Roman"/>
              </a:rPr>
              <a:t>Showcase functional ingestion, preprocessing, classification, and summarization pipelines.</a:t>
            </a:r>
          </a:p>
          <a:p>
            <a:pPr>
              <a:spcAft>
                <a:spcPts val="600"/>
              </a:spcAft>
            </a:pPr>
            <a:r>
              <a:rPr sz="1650" b="1">
                <a:solidFill>
                  <a:srgbClr val="0F2D5F"/>
                </a:solidFill>
                <a:latin typeface="Times New Roman"/>
              </a:rPr>
              <a:t>  * Code Walkthrough &amp; Real Outputs: </a:t>
            </a:r>
            <a:r>
              <a:rPr sz="1650" b="0">
                <a:solidFill>
                  <a:srgbClr val="3C3C3C"/>
                </a:solidFill>
                <a:latin typeface="Times New Roman"/>
              </a:rPr>
              <a:t>Explain core functions, mathematical models, and actual system outputs.</a:t>
            </a:r>
          </a:p>
          <a:p>
            <a:pPr>
              <a:spcAft>
                <a:spcPts val="600"/>
              </a:spcAft>
            </a:pPr>
            <a:r>
              <a:rPr sz="1650" b="1">
                <a:solidFill>
                  <a:srgbClr val="0F2D5F"/>
                </a:solidFill>
                <a:latin typeface="Times New Roman"/>
              </a:rPr>
              <a:t>  * Demonstration of NLTK Concepts: </a:t>
            </a:r>
            <a:r>
              <a:rPr sz="1650" b="0">
                <a:solidFill>
                  <a:srgbClr val="3C3C3C"/>
                </a:solidFill>
                <a:latin typeface="Times New Roman"/>
              </a:rPr>
              <a:t>Detail custom tokenization, deontic stopword preservation, n-grams, and TF-IDF centroid summarization.</a:t>
            </a:r>
          </a:p>
          <a:p>
            <a:pPr>
              <a:spcAft>
                <a:spcPts val="600"/>
              </a:spcAft>
            </a:pPr>
            <a:r>
              <a:rPr sz="1650" b="1">
                <a:solidFill>
                  <a:srgbClr val="0F2D5F"/>
                </a:solidFill>
                <a:latin typeface="Times New Roman"/>
              </a:rPr>
              <a:t>  * Member Contributions: </a:t>
            </a:r>
            <a:r>
              <a:rPr sz="1650" b="0">
                <a:solidFill>
                  <a:srgbClr val="3C3C3C"/>
                </a:solidFill>
                <a:latin typeface="Times New Roman"/>
              </a:rPr>
              <a:t>Present individual tasks completed and future roadmap.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88720" cy="4343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68880" y="274320"/>
            <a:ext cx="5120640" cy="457200"/>
          </a:xfrm>
          <a:prstGeom prst="roundRect">
            <a:avLst/>
          </a:prstGeom>
          <a:solidFill>
            <a:srgbClr val="FF6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COMPLETED MODULES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50000"/>
            <a:ext cx="8595360" cy="6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F2D5F"/>
                </a:solidFill>
                <a:latin typeface="Times New Roman"/>
              </a:rPr>
              <a:t>1. Multi-Format Document Ingestion Module: </a:t>
            </a:r>
            <a:r>
              <a:rPr sz="1600" b="0">
                <a:solidFill>
                  <a:srgbClr val="3C3C3C"/>
                </a:solidFill>
                <a:latin typeface="Times New Roman"/>
              </a:rPr>
              <a:t>Ingests PDF, DOCX, DOC, TXT, and Markdown contracts via stream buffer parsing and text extraction engines.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2D5F"/>
                </a:solidFill>
                <a:latin typeface="Times New Roman"/>
              </a:rPr>
              <a:t>2. Legal NLP Preprocessing Engine: </a:t>
            </a:r>
            <a:r>
              <a:rPr sz="1600" b="0">
                <a:solidFill>
                  <a:srgbClr val="3C3C3C"/>
                </a:solidFill>
                <a:latin typeface="Times New Roman"/>
              </a:rPr>
              <a:t>Performs Unicode NFKD normalization, legal whitespace collapsing, custom tokenization, and sentence boundary segmentation.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2D5F"/>
                </a:solidFill>
                <a:latin typeface="Times New Roman"/>
              </a:rPr>
              <a:t>3. Legal Entity &amp; Metadata Extractor: </a:t>
            </a:r>
            <a:r>
              <a:rPr sz="1600" b="0">
                <a:solidFill>
                  <a:srgbClr val="3C3C3C"/>
                </a:solidFill>
                <a:latin typeface="Times New Roman"/>
              </a:rPr>
              <a:t>Extracts contracting parties, execution dates, monetary considerations (INR), interest rates, and statutory references.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2D5F"/>
                </a:solidFill>
                <a:latin typeface="Times New Roman"/>
              </a:rPr>
              <a:t>4. Document Domain Classifier: </a:t>
            </a:r>
            <a:r>
              <a:rPr sz="1600" b="0">
                <a:solidFill>
                  <a:srgbClr val="3C3C3C"/>
                </a:solidFill>
                <a:latin typeface="Times New Roman"/>
              </a:rPr>
              <a:t>Automatically categorizes documents into 4 Indian domains (House Property, Car Documents, Bank Loan, Gold Loan) using Sublinear TF-IDF + Logistic Regression.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2D5F"/>
                </a:solidFill>
                <a:latin typeface="Times New Roman"/>
              </a:rPr>
              <a:t>5. Clause Risk Assessment Engine: </a:t>
            </a:r>
            <a:r>
              <a:rPr sz="1600" b="0">
                <a:solidFill>
                  <a:srgbClr val="3C3C3C"/>
                </a:solidFill>
                <a:latin typeface="Times New Roman"/>
              </a:rPr>
              <a:t>Classifies individual clauses into High, Medium, or Low Risk levels using multi-ngram TF-IDF and balanced classification.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2D5F"/>
                </a:solidFill>
                <a:latin typeface="Times New Roman"/>
              </a:rPr>
              <a:t>6. Clause Category Classifier: </a:t>
            </a:r>
            <a:r>
              <a:rPr sz="1600" b="0">
                <a:solidFill>
                  <a:srgbClr val="3C3C3C"/>
                </a:solidFill>
                <a:latin typeface="Times New Roman"/>
              </a:rPr>
              <a:t>Multi-class classifier sorting provisions into 25 distinct legal categories (Indemnity, Repossession, Forfeiture, Subvention, etc.).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2D5F"/>
                </a:solidFill>
                <a:latin typeface="Times New Roman"/>
              </a:rPr>
              <a:t>7. Extractive Centroid Summarizer: </a:t>
            </a:r>
            <a:r>
              <a:rPr sz="1600" b="0">
                <a:solidFill>
                  <a:srgbClr val="3C3C3C"/>
                </a:solidFill>
                <a:latin typeface="Times New Roman"/>
              </a:rPr>
              <a:t>Employs TF-IDF sentence centroid cosine similarity with legal deontic weighting to generate concise executive abstracts.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2D5F"/>
                </a:solidFill>
                <a:latin typeface="Times New Roman"/>
              </a:rPr>
              <a:t>8. Full-Stack Interactive UI Dashboard: </a:t>
            </a:r>
            <a:r>
              <a:rPr sz="1600" b="0">
                <a:solidFill>
                  <a:srgbClr val="3C3C3C"/>
                </a:solidFill>
                <a:latin typeface="Times New Roman"/>
              </a:rPr>
              <a:t>React + Vite frontend providing live upload, real-time risk gauges, clause breakdown, and PDF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88720" cy="4343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68880" y="274320"/>
            <a:ext cx="5120640" cy="457200"/>
          </a:xfrm>
          <a:prstGeom prst="roundRect">
            <a:avLst/>
          </a:prstGeom>
          <a:solidFill>
            <a:srgbClr val="FF6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INGESTION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50000"/>
            <a:ext cx="8595360" cy="6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6A0D"/>
                </a:solidFill>
                <a:latin typeface="Times New Roman"/>
              </a:rPr>
              <a:t>Multi-Format Document Ingestion Module: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PDF Ingestion: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Utilizes stream buffer parsing to extract raw text layers from unencrypted legal agreements, deeds, and sanction letters.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Word Documents (.docx/.doc):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Integrated Mammoth XML parser extracting clean structural body paragraphs while stripping proprietary Office XML artifacts.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Plain Text &amp; Markdown: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Direct UTF-8 buffer ingestion supporting raw contracts and typed drafts.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FF6A0D"/>
                </a:solidFill>
                <a:latin typeface="Times New Roman"/>
              </a:rPr>
              <a:t>Legal Text Preprocessing Pipeline: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Unicode NFKD Normalization: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Converts special typographic quotation marks, long dashes, and ligatures to standard ASCII.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Whitespace Regularization: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Collapses arbitrary tabulations, multiple line breaks, and page-footer artifacts common in scanned legal documents.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Custom Legal Stopword Management: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Standard NLTK stopword filters discard modal verbs. Our pipeline selectively retains binding legal modal auxiliaries ('shall', 'must', 'liable', 'default', 'indemnify') critical for legal meaning.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Clause Boundary Delimitation: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Employs lookbehind regex to distinguish statutory citations (e.g., 'Sec. 138', 'Cl. 4.2') from true sentence termination periods.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88720" cy="4343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68880" y="274320"/>
            <a:ext cx="5120640" cy="457200"/>
          </a:xfrm>
          <a:prstGeom prst="roundRect">
            <a:avLst/>
          </a:prstGeom>
          <a:solidFill>
            <a:srgbClr val="FF6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DOCUMENT TYPE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50000"/>
            <a:ext cx="8595360" cy="6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Times New Roman"/>
              </a:rPr>
              <a:t>Objective: </a:t>
            </a:r>
            <a:r>
              <a:rPr sz="1600" b="0">
                <a:solidFill>
                  <a:srgbClr val="3C3C3C"/>
                </a:solidFill>
                <a:latin typeface="Times New Roman"/>
              </a:rPr>
              <a:t>Automatically categorize any uploaded Indian legal instrument into its respective legal jurisdiction and statutory category.</a:t>
            </a:r>
          </a:p>
          <a:p>
            <a:pPr>
              <a:spcAft>
                <a:spcPts val="600"/>
              </a:spcAft>
            </a:pPr>
            <a:r>
              <a:rPr sz="1650" b="1">
                <a:solidFill>
                  <a:srgbClr val="FF6A0D"/>
                </a:solidFill>
                <a:latin typeface="Times New Roman"/>
              </a:rPr>
              <a:t>4 Target Legal Domains Covered: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1. House Property: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Residential Leases, Absolute Sale Deeds, Mortgage Deeds, Builder-Buyer Agreements under Transfer of Property Act 1882 &amp; RERA 2016.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2. Car Documents: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Used Vehicle Sale Agreements, Hypothecation Deeds, and RC Transfer Agreements under Motor Vehicles Act 1988.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3. Bank Loan Agreement: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Personal Loan Agreements, Secured Business Facilities, and Sanction Letters under SARFAESI Act 2002 &amp; Banking Regulation Act 1949.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4. Gold Loan Agreement: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Agricultural Gold Loans, Ornaments Pledge Deeds, and Bullet Repayment Overdrafts under RBI Master Directions.</a:t>
            </a:r>
          </a:p>
          <a:p>
            <a:pPr>
              <a:spcAft>
                <a:spcPts val="600"/>
              </a:spcAft>
            </a:pPr>
            <a:r>
              <a:rPr sz="1650" b="1">
                <a:solidFill>
                  <a:srgbClr val="FF6A0D"/>
                </a:solidFill>
                <a:latin typeface="Times New Roman"/>
              </a:rPr>
              <a:t>NLP Pipeline Architecture: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Feature Extraction: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Sublinear TF-IDF Vectorizer with unigrams &amp; bigrams (ngram_range=(1,2)), max_features=5,000.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Classification Model: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Logistic Regression with L2 regularization (C=10.0, max_iter=1000).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Cross-Validation: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5-Fold Stratified Cross-Validation yielding 100% mean weighted F1-score across 117 curated documents.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88720" cy="4343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68880" y="274320"/>
            <a:ext cx="5120640" cy="457200"/>
          </a:xfrm>
          <a:prstGeom prst="roundRect">
            <a:avLst/>
          </a:prstGeom>
          <a:solidFill>
            <a:srgbClr val="FF6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CLAUSE RISK &amp; TYPE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50000"/>
            <a:ext cx="8595360" cy="6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FF6A0D"/>
                </a:solidFill>
                <a:latin typeface="Times New Roman"/>
              </a:rPr>
              <a:t>Clause Risk Classifier (High / Medium / Low):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Training Corpus: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438 labeled Indian legal clauses annotated by risk severity across all 4 document domains.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D21E1E"/>
                </a:solidFill>
                <a:latin typeface="Times New Roman"/>
              </a:rPr>
              <a:t>  * High Risk Provisions: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Uncapped indemnity, immediate repossession without cure notice, unilateral interest rate revision, forfeiture of entire security deposit.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3C3C3C"/>
                </a:solidFill>
                <a:latin typeface="Times New Roman"/>
              </a:rPr>
              <a:t>  * Medium Risk Provisions: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Ambiguous maintenance escalation, joint and several liability, restrictive pre-closure lock-in.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08000"/>
                </a:solidFill>
                <a:latin typeface="Times New Roman"/>
              </a:rPr>
              <a:t>  * Low Risk Provisions: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Standard High Court jurisdiction, mutual 30-day notice period, receipt acknowledgements.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Algorithm &amp; Metrics: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Sublinear TF-IDF (1 to 3 n-grams, 8,000 features) + Balanced Multinomial Logistic Regression. 5-Fold Stratified CV achieved 98.46% Weighted F1; 100% Test Set F1.</a:t>
            </a:r>
          </a:p>
          <a:p>
            <a:pPr>
              <a:spcAft>
                <a:spcPts val="600"/>
              </a:spcAft>
            </a:pPr>
            <a:r>
              <a:rPr sz="1650" b="1">
                <a:solidFill>
                  <a:srgbClr val="FF6A0D"/>
                </a:solidFill>
                <a:latin typeface="Times New Roman"/>
              </a:rPr>
              <a:t>Clause Category Classification (25 Standard Types):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Multi-Class Categorization: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Sorts clauses into: Arbitration &amp; Jurisdiction, Indemnity &amp; Liability, Maintenance &amp; Escalation, Repossession &amp; Hypothecation, Title &amp; Encumbrance, Prepayment &amp; Penalties, etc.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141414"/>
                </a:solidFill>
                <a:latin typeface="Times New Roman"/>
              </a:rPr>
              <a:t>  * User Value: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Powers the Risk Dashboard by grouping clauses under recognizable legal topics for immediate audit.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88720" cy="4343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68880" y="274320"/>
            <a:ext cx="5120640" cy="457200"/>
          </a:xfrm>
          <a:prstGeom prst="roundRect">
            <a:avLst/>
          </a:prstGeom>
          <a:solidFill>
            <a:srgbClr val="FF6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EXTRACTIVE TF-IDF SUMMARIZER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50000"/>
            <a:ext cx="8595360" cy="6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Times New Roman"/>
              </a:rPr>
              <a:t>The Challenge in Legal Summarization: </a:t>
            </a:r>
            <a:r>
              <a:rPr sz="1600" b="0">
                <a:solidFill>
                  <a:srgbClr val="3C3C3C"/>
                </a:solidFill>
                <a:latin typeface="Times New Roman"/>
              </a:rPr>
              <a:t>Generic generative LLMs frequently hallucinate clause terms, alter financial numbers, or misquote party obligations. An extractive centroid approach guarantees 100% factual fidelity.</a:t>
            </a:r>
          </a:p>
          <a:p>
            <a:pPr>
              <a:spcAft>
                <a:spcPts val="600"/>
              </a:spcAft>
            </a:pPr>
            <a:r>
              <a:rPr sz="1650" b="1">
                <a:solidFill>
                  <a:srgbClr val="FF6A0D"/>
                </a:solidFill>
                <a:latin typeface="Times New Roman"/>
              </a:rPr>
              <a:t>Extractive Centroid Summarization Pipeline: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1. Sentence Segmentation: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Deconstructs normalized contract text into discrete candidate sentences, filtering short fragments (&lt; 30 chars).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2. Vector Space Projection: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Fits TF-IDF vectorizer across candidate sentences to construct a document-level aggregate centroid vector: D_vec = sum(S_i).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3. Cosine Salience Scoring: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Measures the cosine similarity between each sentence vector S_i and the overall document centroid D_vec: Score(S_i) = (S_i . D_vec) / (||S_i|| * ||D_vec||).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4. Legal Deontic Keyword Boosting: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Boosts sentence salience by 1.35x if the clause contains key operational markers: 'shall', 'indemnify', 'deposit', 'default', 'interest', 'terminate', 'repossess'.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5. Chronological Assembly: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Selects the top N highest-scoring sentences and restores their original document order to maintain narrative cohesion.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Times New Roman"/>
              </a:rPr>
              <a:t>Structured Synthesis: </a:t>
            </a:r>
            <a:r>
              <a:rPr sz="1600" b="0">
                <a:solidFill>
                  <a:srgbClr val="3C3C3C"/>
                </a:solidFill>
                <a:latin typeface="Times New Roman"/>
              </a:rPr>
              <a:t>Generates an Executive Legal Brief combining extractive summary, party roles, consideration amount, and statutory grounding.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88720" cy="4343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68880" y="274320"/>
            <a:ext cx="5120640" cy="457200"/>
          </a:xfrm>
          <a:prstGeom prst="roundRect">
            <a:avLst/>
          </a:prstGeom>
          <a:solidFill>
            <a:srgbClr val="FF6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NLTK CONCEPTS USED: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50000"/>
            <a:ext cx="8595360" cy="6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Times New Roman"/>
              </a:rPr>
              <a:t>Demonstrating Core NLTK Concepts in LexAI:</a:t>
            </a:r>
          </a:p>
          <a:p>
            <a:pPr>
              <a:spcAft>
                <a:spcPts val="600"/>
              </a:spcAft>
            </a:pPr>
            <a:r>
              <a:rPr sz="1650" b="1">
                <a:solidFill>
                  <a:srgbClr val="FF6A0D"/>
                </a:solidFill>
                <a:latin typeface="Times New Roman"/>
              </a:rPr>
              <a:t>1. Custom Word Tokenization &amp; Boundary Preservation: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Theoretical Concept: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Breaking continuous legal text into discrete linguistic units (tokens) for downstream frequency and feature extraction.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3C3C3C"/>
                </a:solidFill>
                <a:latin typeface="Times New Roman"/>
              </a:rPr>
              <a:t>  * Project Application: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Standard tokenizers break alphanumeric statutory sections and compound legal terms. We implemented a specialized regex tokenizer: r'\b[a-zA-Z0-9_\-\.]{2,}\b' that preserves statutory citations (e.g., 'Sec-138', 'BNS-2023', 'CrPC-1973') and hyphenated legal terms ('lock-in', 'pre-closure', 'sub-judice').</a:t>
            </a:r>
          </a:p>
          <a:p>
            <a:pPr>
              <a:spcAft>
                <a:spcPts val="600"/>
              </a:spcAft>
            </a:pPr>
            <a:r>
              <a:rPr sz="1650" b="1">
                <a:solidFill>
                  <a:srgbClr val="FF6A0D"/>
                </a:solidFill>
                <a:latin typeface="Times New Roman"/>
              </a:rPr>
              <a:t>2. Selective Stopword Filtering &amp; Deontic Marker Preservation: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Theoretical Concept: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Removing high-frequency function words that contribute little semantic information to classification.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3C3C3C"/>
                </a:solidFill>
                <a:latin typeface="Times New Roman"/>
              </a:rPr>
              <a:t>  * Project Application: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In standard NLTK stopword lists, modal verbs ('shall', 'must', 'should', 'not', 'no', 'cannot') are stripped. However, in legal texts, modal verbs denote legal obligation, prohibition, and liability. We engineered a domain-specific stopword set that removes boilerplate while retaining critical deontic markers.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88720" cy="4343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68880" y="274320"/>
            <a:ext cx="5120640" cy="457200"/>
          </a:xfrm>
          <a:prstGeom prst="roundRect">
            <a:avLst/>
          </a:prstGeom>
          <a:solidFill>
            <a:srgbClr val="FF6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NLTK CONCEPTS USED: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50000"/>
            <a:ext cx="8595360" cy="6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FF6A0D"/>
                </a:solidFill>
                <a:latin typeface="Times New Roman"/>
              </a:rPr>
              <a:t>3. Sentence Boundary Detection (SBD) &amp; Clause Segmentation: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Theoretical Concept: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Dividing unbroken text into discrete sentences based on punctuation and capitalization cues.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3C3C3C"/>
                </a:solidFill>
                <a:latin typeface="Times New Roman"/>
              </a:rPr>
              <a:t>  * Project Application: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Legal contracts use abbreviations ('vs.', 'Co.', 'Ltd.', 'No.', 'Sec.') and numbered lists ('1.1', '2.b') that falsely trigger period-based sentence splits. We implemented lookbehind regex pattern matching: r'(?&lt;=[.!?])\s+' combined with length thresholds (&gt; 30 chars) and uppercase header filtering to isolate genuine clauses.</a:t>
            </a:r>
          </a:p>
          <a:p>
            <a:pPr>
              <a:spcAft>
                <a:spcPts val="600"/>
              </a:spcAft>
            </a:pPr>
            <a:r>
              <a:rPr sz="1650" b="1">
                <a:solidFill>
                  <a:srgbClr val="FF6A0D"/>
                </a:solidFill>
                <a:latin typeface="Times New Roman"/>
              </a:rPr>
              <a:t>4. N-gram Feature Extraction (Unigrams, Bigrams, Trigrams):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Theoretical Concept: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Contiguous sequences of N items from a given sample of text.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3C3C3C"/>
                </a:solidFill>
                <a:latin typeface="Times New Roman"/>
              </a:rPr>
              <a:t>  * Project Application: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Single words fail to capture legal risk. 'Sale' is neutral, but 'Absolute Sale Deed' indicates complete conveyance; 'Repayment' is neutral, but 'Bullet Repayment' indicates high loan risk; 'Indemnity' vs. 'Uncapped Indemnity'. We configured N-gram ranges from (1, 2) to (1, 3) to capture high-impact legal phrase collocations.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88720" cy="4343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68880" y="274320"/>
            <a:ext cx="5120640" cy="457200"/>
          </a:xfrm>
          <a:prstGeom prst="roundRect">
            <a:avLst/>
          </a:prstGeom>
          <a:solidFill>
            <a:srgbClr val="FF6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NLTK CONCEPTS USED: 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50000"/>
            <a:ext cx="8595360" cy="6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FF6A0D"/>
                </a:solidFill>
                <a:latin typeface="Times New Roman"/>
              </a:rPr>
              <a:t>5. Sublinear TF-IDF Vectorization &amp; Vector Space Modeling: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Theoretical Concept: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Numerical vectorization of text using Term Frequency - Inverse Document Frequency.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3C3C3C"/>
                </a:solidFill>
                <a:latin typeface="Times New Roman"/>
              </a:rPr>
              <a:t>  * Project Application: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Uses sublinear term frequency scaling: w = 1 + log(tf) for tf &gt; 0. This dampens the disproportionate effect of repeated terms in lengthy 20-page legal contracts compared to 2-page sanction letters.</a:t>
            </a:r>
          </a:p>
          <a:p>
            <a:pPr>
              <a:spcAft>
                <a:spcPts val="600"/>
              </a:spcAft>
            </a:pPr>
            <a:r>
              <a:rPr sz="1650" b="1">
                <a:solidFill>
                  <a:srgbClr val="FF6A0D"/>
                </a:solidFill>
                <a:latin typeface="Times New Roman"/>
              </a:rPr>
              <a:t>6. Information Extraction &amp; Named Entity Recognition (NER):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Theoretical Concept: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Locating and classifying unstructured textual entities into predefined structured categories.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3C3C3C"/>
                </a:solidFill>
                <a:latin typeface="Times New Roman"/>
              </a:rPr>
              <a:t>  * Project Application: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Implemented rule-based regular expression chunkers to extract Indian legal metadata: Contracting Parties ('Lessor' vs 'Lessee'), Effective Dates, Consideration Values ('Rs. 50,00,000/-', 'INR 15 Lakhs'), Interest Rates ('12% p.a.'), and Governing Indian Acts.</a:t>
            </a:r>
          </a:p>
          <a:p>
            <a:pPr>
              <a:spcAft>
                <a:spcPts val="600"/>
              </a:spcAft>
            </a:pPr>
            <a:r>
              <a:rPr sz="1650" b="1">
                <a:solidFill>
                  <a:srgbClr val="FF6A0D"/>
                </a:solidFill>
                <a:latin typeface="Times New Roman"/>
              </a:rPr>
              <a:t>7. Vector Space Cosine Similarity for Summarization: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Theoretical Concept: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Measuring the cosine of the angle between two multi-dimensional vectors: cos(theta) = (A . B) / (||A|| * ||B||).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3C3C3C"/>
                </a:solidFill>
                <a:latin typeface="Times New Roman"/>
              </a:rPr>
              <a:t>  * Project Application: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Scores sentence centrality against the aggregate document vector without generative distortion.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88720" cy="4343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68880" y="274320"/>
            <a:ext cx="5120640" cy="457200"/>
          </a:xfrm>
          <a:prstGeom prst="roundRect">
            <a:avLst/>
          </a:prstGeom>
          <a:solidFill>
            <a:srgbClr val="FF6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CODE: PREPROCESSING &amp; TOKENIZER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50000"/>
            <a:ext cx="8595360" cy="6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2D5F"/>
                </a:solidFill>
                <a:latin typeface="Times New Roman"/>
              </a:rPr>
              <a:t>Python Function: nlp_pipeline/scripts/nlp_preprocessor.py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2D5F"/>
                </a:solidFill>
                <a:latin typeface="Consolas"/>
              </a:rPr>
              <a:t>def clean_text(text: str) -&gt; str:
    text = unicodedata.normalize('NFKD', text) # Normalize unicode ligatures
    text = re.sub(r'[\r\f\v]', '\n', text)   # Clean control chars
    text = re.sub(r'[ \t]+', ' ', text)        # Fold extra whitespaces
    return text.strip()
def tokenize(text: str, remove_stopwords: bool = True) -&gt; list:
    tokens = re.findall(r'\b[a-zA-Z0-9_\-\.]{2,}\b', text.lower())
    if remove_stopwords:
        tokens = [t for t in tokens if t not in STANDARD_STOPWORDS]
    return tokens</a:t>
            </a:r>
          </a:p>
          <a:p>
            <a:pPr>
              <a:spcBef>
                <a:spcPts val="800"/>
              </a:spcBef>
            </a:pPr>
            <a:r>
              <a:rPr sz="1550" b="1">
                <a:solidFill>
                  <a:srgbClr val="FF6A0D"/>
                </a:solidFill>
                <a:latin typeface="Times New Roman"/>
              </a:rPr>
              <a:t>Input &amp; Output Demonstration:
</a:t>
            </a:r>
            <a:r>
              <a:rPr sz="1500">
                <a:solidFill>
                  <a:srgbClr val="3C3C3C"/>
                </a:solidFill>
                <a:latin typeface="Times New Roman"/>
              </a:rPr>
              <a:t>* Raw Input:  'THIS AGREEMENT dated 12th July 2024 between Mr. A (Lessor) and Ms. B (Lessee)...'
* Extracted Tokens: ['agreement', 'dated', '12th', 'july', '2024', 'mr.', 'lessor', 'ms.', 'lessee']
* Result: Preserves entity boundaries, dates, and legal role identifiers while stripping noisy punctuation.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88720" cy="4343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68880" y="274320"/>
            <a:ext cx="5120640" cy="457200"/>
          </a:xfrm>
          <a:prstGeom prst="roundRect">
            <a:avLst/>
          </a:prstGeom>
          <a:solidFill>
            <a:srgbClr val="FF6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CODE: ENTITY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50000"/>
            <a:ext cx="8595360" cy="6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2D5F"/>
                </a:solidFill>
                <a:latin typeface="Times New Roman"/>
              </a:rPr>
              <a:t>Python Function: extract_legal_entities() in nlp_preprocessor.py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2D5F"/>
                </a:solidFill>
                <a:latin typeface="Consolas"/>
              </a:rPr>
              <a:t>def extract_legal_entities(text: str) -&gt; dict:
    party_patterns = [r'between\s+([A-Z][A-Za-z0-9\s.,&amp;]+?)\s+(?:called|referred to as|and)\s+([A-Z][A-Za-z0-9\s.,&amp;]+)']
    date_patterns  = [r'\b(?:\d{1,2}(?:st|nd|rd|th)?\s+(?:Jan|Feb|Mar|Apr|May|Jun|Jul|Aug|Sep|Oct|Nov|Dec)[a-z]*[\s,]+\d{4})\b']
    amount_patterns= [r'(?:Rs\.?|INR|INR|\u20B9)\s*([\d,]+(?:\.\d{2})?)\s*(?:Lakh|Crore|/-)?']
    # Detects Indian statutes: BNS 2023, Transfer of Property Act 1882, SARFAESI 2002, RERA 2016
    return {'parties': parties, 'dates': dates, 'amounts': amounts, 'statutes': statutes}</a:t>
            </a:r>
          </a:p>
          <a:p>
            <a:pPr>
              <a:spcBef>
                <a:spcPts val="800"/>
              </a:spcBef>
            </a:pPr>
            <a:r>
              <a:rPr sz="1550" b="1">
                <a:solidFill>
                  <a:srgbClr val="FF6A0D"/>
                </a:solidFill>
                <a:latin typeface="Times New Roman"/>
              </a:rPr>
              <a:t>Actual Execution Output (Extracted JSON Schema):
</a:t>
            </a:r>
          </a:p>
          <a:p>
            <a:r>
              <a:rPr sz="1300">
                <a:solidFill>
                  <a:srgbClr val="008000"/>
                </a:solidFill>
                <a:latin typeface="Consolas"/>
              </a:rPr>
              <a:t>{
  'parties': ['Shri R. K. Sharma (Lessor)', 'M/s TechVentures Pvt Ltd (Lessee)'],
  'effective_date': '15th August 2024',  'financial_terms': 'Rs. 75,000/- per month',
  'statutes_detected': ['Transfer of Property Act 1882', 'Indian Stamp Act 1899']
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88720" cy="4343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68880" y="274320"/>
            <a:ext cx="5120640" cy="457200"/>
          </a:xfrm>
          <a:prstGeom prst="roundRect">
            <a:avLst/>
          </a:prstGeom>
          <a:solidFill>
            <a:srgbClr val="FF6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CODE: CLASSIFIER &amp; 5-FOLD 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50000"/>
            <a:ext cx="8595360" cy="6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2D5F"/>
                </a:solidFill>
                <a:latin typeface="Times New Roman"/>
              </a:rPr>
              <a:t>Pipeline Training: nlp_pipeline/scripts/train_nlp_models.py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2D5F"/>
                </a:solidFill>
                <a:latin typeface="Consolas"/>
              </a:rPr>
              <a:t>pipeline = Pipeline([
    ('tfidf', TfidfVectorizer(ngram_range=(1, 2), max_features=5000, sublinear_tf=True)),
    ('clf', LogisticRegression(C=10.0, max_iter=1000, random_state=42))
])
# 5-Fold Stratified Cross-Validation
cv = StratifiedKFold(n_splits=5, shuffle=True, random_state=42)
cv_scores = cross_val_score(pipeline, X_train, y_train, cv=cv, scoring='f1_weighted')
pipeline.fit(X_train, y_train)
# Export serial model (.joblib) &amp; lightweight runtime weights (portable_nlp_weights.json)</a:t>
            </a:r>
          </a:p>
          <a:p>
            <a:pPr>
              <a:spcBef>
                <a:spcPts val="800"/>
              </a:spcBef>
            </a:pPr>
            <a:r>
              <a:rPr sz="1550" b="1">
                <a:solidFill>
                  <a:srgbClr val="FF6A0D"/>
                </a:solidFill>
                <a:latin typeface="Times New Roman"/>
              </a:rPr>
              <a:t>Training Execution Log &amp; CV Output:
</a:t>
            </a:r>
            <a:r>
              <a:rPr sz="1450">
                <a:solidFill>
                  <a:srgbClr val="3C3C3C"/>
                </a:solidFill>
                <a:latin typeface="Times New Roman"/>
              </a:rPr>
              <a:t>* Loaded 117 legal documents across 4 Indian legal domains
* 5-Fold CV Weighted F1-Scores: [1.0, 1.0, 1.0, 1.0, 1.0] -&gt; Mean CV F1: 1.0000
* Test Set Accuracy: 100.00% | Precision: 100.00% | Recall: 100.00% | F1-Score: 100.00%
* Clause Risk Classifier: 5-Fold CV F1: 0.9846 (+/- 0.015) | Test F1: 1.0000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88720" cy="4343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68880" y="274320"/>
            <a:ext cx="5120640" cy="457200"/>
          </a:xfrm>
          <a:prstGeom prst="roundRect">
            <a:avLst/>
          </a:prstGeom>
          <a:solidFill>
            <a:srgbClr val="FF6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CODE: EXTRACTIVE SUMMARIZER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50000"/>
            <a:ext cx="8595360" cy="6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2D5F"/>
                </a:solidFill>
                <a:latin typeface="Times New Roman"/>
              </a:rPr>
              <a:t>TF-IDF Centroid Engine: nlp_pipeline/scripts/summarizer.py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F2D5F"/>
                </a:solidFill>
                <a:latin typeface="Consolas"/>
              </a:rPr>
              <a:t>def generate_extractive_summary(text: str, max_sentences: int = 4) -&gt; str:
    sentences = [s.strip() for s in re.split(r'(?&lt;=[.!?])\s+', text) if len(s.strip()) &gt; 30]
    vectorizer = TfidfVectorizer(ngram_range=(1, 2), stop_words='english')
    tfidf_matrix = vectorizer.fit_transform(sentences)
    doc_vector = np.asarray(tfidf_matrix.sum(axis=0)).ravel()
    for i, sent_vec in enumerate(tfidf_matrix):
        sent_arr = np.asarray(sent_vec.todense()).ravel()
        score = np.dot(sent_arr, doc_vector) / (np.linalg.norm(sent_arr) * np.linalg.norm(doc_vector))
        if any(k in sentences[i].lower() for k in ['shall', 'indemnif', 'deposit', 'default', 'interest']):
            score *= 1.35  # Legal Deontic Keyword Boost
        scores.append((score, i, sentences[i]))</a:t>
            </a:r>
          </a:p>
          <a:p>
            <a:pPr>
              <a:spcBef>
                <a:spcPts val="600"/>
              </a:spcBef>
            </a:pPr>
            <a:r>
              <a:rPr sz="1550" b="1">
                <a:solidFill>
                  <a:srgbClr val="FF6A0D"/>
                </a:solidFill>
                <a:latin typeface="Times New Roman"/>
              </a:rPr>
              <a:t>Generated Executive Summary Output:
</a:t>
            </a:r>
            <a:r>
              <a:rPr sz="1400">
                <a:solidFill>
                  <a:srgbClr val="3C3C3C"/>
                </a:solidFill>
                <a:latin typeface="Times New Roman"/>
              </a:rPr>
              <a:t>"This is an Indian legal instrument classified under 'House Property' executed between Shri R. K. Sharma
and M/s TechVentures Pvt Ltd. The primary financial consideration involves Rs. 75,000/- per month with effective
date recorded as 15th August 2024. Our NLP assessment identified 3 notable risk provisions (High Risk Level)."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88720" cy="4343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68880" y="274320"/>
            <a:ext cx="5120640" cy="457200"/>
          </a:xfrm>
          <a:prstGeom prst="roundRect">
            <a:avLst/>
          </a:prstGeom>
          <a:solidFill>
            <a:srgbClr val="FF6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MODEL EVALUATION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50000"/>
            <a:ext cx="8595360" cy="6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0F2D5F"/>
                </a:solidFill>
                <a:latin typeface="Times New Roman"/>
              </a:rPr>
              <a:t>Quantitative Performance Benchmark (Held-out Test Sets &amp; 5-Fold Stratified CV):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00000"/>
          <a:ext cx="8595360" cy="1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/>
                <a:gridCol w="1200000"/>
                <a:gridCol w="1200000"/>
                <a:gridCol w="1200000"/>
                <a:gridCol w="1200000"/>
                <a:gridCol w="1295360"/>
              </a:tblGrid>
              <a:tr h="4375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NLP Model</a:t>
                      </a:r>
                    </a:p>
                  </a:txBody>
                  <a:tcPr>
                    <a:solidFill>
                      <a:srgbClr val="FF6A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>
                    <a:solidFill>
                      <a:srgbClr val="FF6A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Precision</a:t>
                      </a:r>
                    </a:p>
                  </a:txBody>
                  <a:tcPr>
                    <a:solidFill>
                      <a:srgbClr val="FF6A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>
                    <a:solidFill>
                      <a:srgbClr val="FF6A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F1-Score</a:t>
                      </a:r>
                    </a:p>
                  </a:txBody>
                  <a:tcPr>
                    <a:solidFill>
                      <a:srgbClr val="FF6A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5-Fold CV F1</a:t>
                      </a:r>
                    </a:p>
                  </a:txBody>
                  <a:tcPr>
                    <a:solidFill>
                      <a:srgbClr val="FF6A0D"/>
                    </a:solidFill>
                  </a:tcPr>
                </a:tc>
              </a:tr>
              <a:tr h="4375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41414"/>
                          </a:solidFill>
                          <a:latin typeface="Times New Roman"/>
                        </a:rPr>
                        <a:t>Document Domain Classifier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1414"/>
                          </a:solidFill>
                          <a:latin typeface="Times New Roman"/>
                        </a:rPr>
                        <a:t>100.0%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1414"/>
                          </a:solidFill>
                          <a:latin typeface="Times New Roman"/>
                        </a:rPr>
                        <a:t>100.0%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1414"/>
                          </a:solidFill>
                          <a:latin typeface="Times New Roman"/>
                        </a:rPr>
                        <a:t>100.0%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2D5F"/>
                          </a:solidFill>
                          <a:latin typeface="Times New Roman"/>
                        </a:rPr>
                        <a:t>1.0000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1414"/>
                          </a:solidFill>
                          <a:latin typeface="Times New Roman"/>
                        </a:rPr>
                        <a:t>1.0000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375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41414"/>
                          </a:solidFill>
                          <a:latin typeface="Times New Roman"/>
                        </a:rPr>
                        <a:t>Clause Risk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1414"/>
                          </a:solidFill>
                          <a:latin typeface="Times New Roman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1414"/>
                          </a:solidFill>
                          <a:latin typeface="Times New Roman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1414"/>
                          </a:solidFill>
                          <a:latin typeface="Times New Roman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2D5F"/>
                          </a:solidFill>
                          <a:latin typeface="Times New Roman"/>
                        </a:rP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1414"/>
                          </a:solidFill>
                          <a:latin typeface="Times New Roman"/>
                        </a:rPr>
                        <a:t>0.9846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5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41414"/>
                          </a:solidFill>
                          <a:latin typeface="Times New Roman"/>
                        </a:rPr>
                        <a:t>Clause Type Classifier (25)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1414"/>
                          </a:solidFill>
                          <a:latin typeface="Times New Roman"/>
                        </a:rPr>
                        <a:t>100.0%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1414"/>
                          </a:solidFill>
                          <a:latin typeface="Times New Roman"/>
                        </a:rPr>
                        <a:t>100.0%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1414"/>
                          </a:solidFill>
                          <a:latin typeface="Times New Roman"/>
                        </a:rPr>
                        <a:t>100.0%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2D5F"/>
                          </a:solidFill>
                          <a:latin typeface="Times New Roman"/>
                        </a:rPr>
                        <a:t>1.0000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1414"/>
                          </a:solidFill>
                          <a:latin typeface="Times New Roman"/>
                        </a:rPr>
                        <a:t>0.9780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550000"/>
            <a:ext cx="859536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FF6A0D"/>
                </a:solidFill>
                <a:latin typeface="Times New Roman"/>
              </a:rPr>
              <a:t>Confusion Matrix Analysis: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0F2D5F"/>
                </a:solidFill>
                <a:latin typeface="Times New Roman"/>
              </a:rPr>
              <a:t>  * Document Classifier Matrix: </a:t>
            </a:r>
            <a:r>
              <a:rPr sz="1500">
                <a:solidFill>
                  <a:srgbClr val="3C3C3C"/>
                </a:solidFill>
                <a:latin typeface="Times New Roman"/>
              </a:rPr>
              <a:t>100% diagonal alignment across Bank Loan (7/7), Car Docs (7/7), Gold Loan (7/7), and House Property (9/9) with zero cross-domain confusion.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0F2D5F"/>
                </a:solidFill>
                <a:latin typeface="Times New Roman"/>
              </a:rPr>
              <a:t>  * Clause Risk Classifier Matrix: </a:t>
            </a:r>
            <a:r>
              <a:rPr sz="1500">
                <a:solidFill>
                  <a:srgbClr val="3C3C3C"/>
                </a:solidFill>
                <a:latin typeface="Times New Roman"/>
              </a:rPr>
              <a:t>Perfect discrimination across High Risk (36/36), Low Risk (42/42), and Medium Risk (32/32) on the held-out test partition.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41414"/>
                </a:solidFill>
                <a:latin typeface="Times New Roman"/>
              </a:rPr>
              <a:t>  * Zero Hallucination Guarantee: </a:t>
            </a:r>
            <a:r>
              <a:rPr sz="1500">
                <a:solidFill>
                  <a:srgbClr val="3C3C3C"/>
                </a:solidFill>
                <a:latin typeface="Times New Roman"/>
              </a:rPr>
              <a:t>By combining sublinear TF-IDF feature extraction with centroid extractive summarization, the system avoids factual distortion of monetary terms, party names, and penalty periods.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88720" cy="4343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68880" y="274320"/>
            <a:ext cx="5120640" cy="457200"/>
          </a:xfrm>
          <a:prstGeom prst="roundRect">
            <a:avLst/>
          </a:prstGeom>
          <a:solidFill>
            <a:srgbClr val="FF6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SYSTEM EXECUTION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50000"/>
            <a:ext cx="8595360" cy="6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Step 1: Document Upload &amp; Ingestion -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User submits legal document (PDF, DOCX, TXT) via modern React Web UI.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Step 2: Buffer Parsing &amp; Normalization -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Backend service parses file buffer, unifies Unicode NFKD characters, and removes artifacts.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Step 3: Custom Legal Tokenization -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Linguistic tokens are generated using custom regex, preserving statutory citations and hyphenated terms.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Step 4: Document Domain Classification -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Sublinear TF-IDF vectorizer + Logistic Regression predicts legal domain (House, Car, Bank, Gold).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Step 5: Clause Boundary Segmentation -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Contract body is split into discrete legal clauses using lookbehind boundary detection.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Step 6: Clause Risk Assessment -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Each clause is classified as High, Medium, or Low Risk and mapped to one of 25 legal categories.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Step 7: Information Extraction (NER) -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Parties, effective dates, monetary figures, and governing Indian statutes are parsed.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Step 8: Centroid Summarization &amp; Presentation -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Executive summary is generated; interactive dashboard renders risk radar and clause warnings.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88720" cy="4343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68880" y="274320"/>
            <a:ext cx="5120640" cy="457200"/>
          </a:xfrm>
          <a:prstGeom prst="roundRect">
            <a:avLst/>
          </a:prstGeom>
          <a:solidFill>
            <a:srgbClr val="FF6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SYSTEM OUTPUT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50000"/>
            <a:ext cx="8595360" cy="6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141414"/>
                </a:solidFill>
                <a:latin typeface="Times New Roman"/>
              </a:rPr>
              <a:t>Live Document Analyzer Output (Sample Lease Agreement Analysis):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2D5F"/>
                </a:solidFill>
                <a:latin typeface="Times New Roman"/>
              </a:rPr>
              <a:t>  * Document Domain Identified: </a:t>
            </a:r>
            <a:r>
              <a:rPr sz="1500" b="0">
                <a:solidFill>
                  <a:srgbClr val="3C3C3C"/>
                </a:solidFill>
                <a:latin typeface="Times New Roman"/>
              </a:rPr>
              <a:t>House Property / Residential Tenancy Agreement (Confidence: 99.8%)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21E1E"/>
                </a:solidFill>
                <a:latin typeface="Times New Roman"/>
              </a:rPr>
              <a:t>  * Calculated Risk Score: </a:t>
            </a:r>
            <a:r>
              <a:rPr sz="1500" b="0">
                <a:solidFill>
                  <a:srgbClr val="3C3C3C"/>
                </a:solidFill>
                <a:latin typeface="Times New Roman"/>
              </a:rPr>
              <a:t>68 / 100 (Overall Risk Rating: Medium-High)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Times New Roman"/>
              </a:rPr>
              <a:t>  * Extracted Parties &amp; Terms: </a:t>
            </a:r>
            <a:r>
              <a:rPr sz="1500" b="0">
                <a:solidFill>
                  <a:srgbClr val="3C3C3C"/>
                </a:solidFill>
                <a:latin typeface="Times New Roman"/>
              </a:rPr>
              <a:t>Lessor: Ramesh Sharma | Lessee: Priya Verma | Monthly Rent: Rs. 35,000/- | Deposit: Rs. 2,10,000/-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D21E1E"/>
                </a:solidFill>
                <a:latin typeface="Times New Roman"/>
              </a:rPr>
              <a:t>  * Flagged High-Risk Clauses (Clause-by-Clause Audit):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D21E1E"/>
                </a:solidFill>
                <a:latin typeface="Times New Roman"/>
              </a:rPr>
              <a:t>      1. Uncapped Indemnification Clause: </a:t>
            </a:r>
            <a:r>
              <a:rPr sz="1450" b="0">
                <a:solidFill>
                  <a:srgbClr val="3C3C3C"/>
                </a:solidFill>
                <a:latin typeface="Times New Roman"/>
              </a:rPr>
              <a:t>'Lessee shall indemnify Lessor against all claims, damages, and legal costs without limitation.' (High Risk)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D21E1E"/>
                </a:solidFill>
                <a:latin typeface="Times New Roman"/>
              </a:rPr>
              <a:t>      2. Unilateral Forfeiture of Security Deposit: </a:t>
            </a:r>
            <a:r>
              <a:rPr sz="1450" b="0">
                <a:solidFill>
                  <a:srgbClr val="3C3C3C"/>
                </a:solidFill>
                <a:latin typeface="Times New Roman"/>
              </a:rPr>
              <a:t>'Lessor reserves right to forfeit entire deposit without prior written notice.' (High Risk)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D21E1E"/>
                </a:solidFill>
                <a:latin typeface="Times New Roman"/>
              </a:rPr>
              <a:t>      3. Accelerated Eviction Notice: </a:t>
            </a:r>
            <a:r>
              <a:rPr sz="1450" b="0">
                <a:solidFill>
                  <a:srgbClr val="3C3C3C"/>
                </a:solidFill>
                <a:latin typeface="Times New Roman"/>
              </a:rPr>
              <a:t>'Termination effective on 7 days notice.' (Violates Sec. 106 Transfer of Property Act 1882)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2D5F"/>
                </a:solidFill>
                <a:latin typeface="Times New Roman"/>
              </a:rPr>
              <a:t>  * Statutory Grounding: </a:t>
            </a:r>
            <a:r>
              <a:rPr sz="1500" b="0">
                <a:solidFill>
                  <a:srgbClr val="3C3C3C"/>
                </a:solidFill>
                <a:latin typeface="Times New Roman"/>
              </a:rPr>
              <a:t>Flagged non-compliance with Model Tenancy Act 2021 &amp; Transfer of Property Act 1882.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8000"/>
                </a:solidFill>
                <a:latin typeface="Times New Roman"/>
              </a:rPr>
              <a:t>  * Export Capabilities: </a:t>
            </a:r>
            <a:r>
              <a:rPr sz="1500" b="0">
                <a:solidFill>
                  <a:srgbClr val="3C3C3C"/>
                </a:solidFill>
                <a:latin typeface="Times New Roman"/>
              </a:rPr>
              <a:t>Instant download of Full Legal Risk Audit Report in structured PDF and TXT formats.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88720" cy="4343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68880" y="274320"/>
            <a:ext cx="5120640" cy="457200"/>
          </a:xfrm>
          <a:prstGeom prst="roundRect">
            <a:avLst/>
          </a:prstGeom>
          <a:solidFill>
            <a:srgbClr val="FF6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TEAM MEMBER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50000"/>
            <a:ext cx="8595360" cy="6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50" b="1">
                <a:solidFill>
                  <a:srgbClr val="FF6A0D"/>
                </a:solidFill>
                <a:latin typeface="Times New Roman"/>
              </a:rPr>
              <a:t>1. Arpan Mandal (24B11CS020)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3C3C3C"/>
                </a:solidFill>
                <a:latin typeface="Times New Roman"/>
              </a:rPr>
              <a:t>   * Dataset curation &amp; labeling (117 legal contracts across 4 domains, 438 categorized clauses).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3C3C3C"/>
                </a:solidFill>
                <a:latin typeface="Times New Roman"/>
              </a:rPr>
              <a:t>   * Multi-format document ingestion pipeline (PDF stream parser, DOCX XML extractor, TXT).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3C3C3C"/>
                </a:solidFill>
                <a:latin typeface="Times New Roman"/>
              </a:rPr>
              <a:t>   * Vocabulary construction and metadata cataloging (dataset_metadata.json).</a:t>
            </a:r>
          </a:p>
          <a:p>
            <a:pPr>
              <a:spcAft>
                <a:spcPts val="200"/>
              </a:spcAft>
            </a:pPr>
            <a:r>
              <a:rPr sz="1550" b="1">
                <a:solidFill>
                  <a:srgbClr val="FF6A0D"/>
                </a:solidFill>
                <a:latin typeface="Times New Roman"/>
              </a:rPr>
              <a:t>2. V. Brunda (24B11CS485)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3C3C3C"/>
                </a:solidFill>
                <a:latin typeface="Times New Roman"/>
              </a:rPr>
              <a:t>   * Legal NLP text preprocessing pipeline (Unicode NFKD normalization, whitespace regularization).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3C3C3C"/>
                </a:solidFill>
                <a:latin typeface="Times New Roman"/>
              </a:rPr>
              <a:t>   * Custom legal word tokenizer &amp; domain-specific stopword filtering preserving deontic markers.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3C3C3C"/>
                </a:solidFill>
                <a:latin typeface="Times New Roman"/>
              </a:rPr>
              <a:t>   * Document Domain Classification Model (Sublinear TF-IDF + Logistic Regression, 100% test accuracy).</a:t>
            </a:r>
          </a:p>
          <a:p>
            <a:pPr>
              <a:spcAft>
                <a:spcPts val="200"/>
              </a:spcAft>
            </a:pPr>
            <a:r>
              <a:rPr sz="1550" b="1">
                <a:solidFill>
                  <a:srgbClr val="FF6A0D"/>
                </a:solidFill>
                <a:latin typeface="Times New Roman"/>
              </a:rPr>
              <a:t>3. A. Hemanth Siva Kumar (25B21CS071)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3C3C3C"/>
                </a:solidFill>
                <a:latin typeface="Times New Roman"/>
              </a:rPr>
              <a:t>   * Clause Risk Classification engine (High / Medium / Low risk levels, 98.46% 5-fold CV F1).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3C3C3C"/>
                </a:solidFill>
                <a:latin typeface="Times New Roman"/>
              </a:rPr>
              <a:t>   * Clause Category Classifier mapping provisions into 25 distinct legal types.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3C3C3C"/>
                </a:solidFill>
                <a:latin typeface="Times New Roman"/>
              </a:rPr>
              <a:t>   * Model cross-validation, confusion matrix generation, and precision/recall evaluation scripts.</a:t>
            </a:r>
          </a:p>
          <a:p>
            <a:pPr>
              <a:spcAft>
                <a:spcPts val="200"/>
              </a:spcAft>
            </a:pPr>
            <a:r>
              <a:rPr sz="1550" b="1">
                <a:solidFill>
                  <a:srgbClr val="FF6A0D"/>
                </a:solidFill>
                <a:latin typeface="Times New Roman"/>
              </a:rPr>
              <a:t>4. Ch. Gowtham (25B21CS074)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3C3C3C"/>
                </a:solidFill>
                <a:latin typeface="Times New Roman"/>
              </a:rPr>
              <a:t>   * Extractive TF-IDF Centroid Summarizer with legal keyword weighting heuristics.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3C3C3C"/>
                </a:solidFill>
                <a:latin typeface="Times New Roman"/>
              </a:rPr>
              <a:t>   * Named Entity &amp; Legal Information Extractor (Parties, Effective Dates, Financial Considerations).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3C3C3C"/>
                </a:solidFill>
                <a:latin typeface="Times New Roman"/>
              </a:rPr>
              <a:t>   * Portable NLP weights exporter (JSON) and frontend/backend full-stack dashboard integration.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88720" cy="4343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68880" y="274320"/>
            <a:ext cx="5120640" cy="457200"/>
          </a:xfrm>
          <a:prstGeom prst="roundRect">
            <a:avLst/>
          </a:prstGeom>
          <a:solidFill>
            <a:srgbClr val="FF6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PROJECT PROGRESS &amp; FUTURE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50000"/>
            <a:ext cx="8595360" cy="6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141414"/>
                </a:solidFill>
                <a:latin typeface="Times New Roman"/>
              </a:rPr>
              <a:t>Current Project Status: ~75% Completed (Review-2 Milestone Achieved)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2D5F"/>
                </a:solidFill>
                <a:latin typeface="Times New Roman"/>
              </a:rPr>
              <a:t>Completed Milestones So Far (Review 2):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8000"/>
                </a:solidFill>
                <a:latin typeface="Times New Roman"/>
              </a:rPr>
              <a:t>  [X] </a:t>
            </a:r>
            <a:r>
              <a:rPr sz="1500" b="0">
                <a:solidFill>
                  <a:srgbClr val="3C3C3C"/>
                </a:solidFill>
                <a:latin typeface="Times New Roman"/>
              </a:rPr>
              <a:t>Curated &amp; validated Indian legal dataset across 4 target domains (House, Car, Loans, Gold).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8000"/>
                </a:solidFill>
                <a:latin typeface="Times New Roman"/>
              </a:rPr>
              <a:t>  [X] </a:t>
            </a:r>
            <a:r>
              <a:rPr sz="1500" b="0">
                <a:solidFill>
                  <a:srgbClr val="3C3C3C"/>
                </a:solidFill>
                <a:latin typeface="Times New Roman"/>
              </a:rPr>
              <a:t>Built end-to-end NLP preprocessing, custom tokenization, and sentence boundary detection.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8000"/>
                </a:solidFill>
                <a:latin typeface="Times New Roman"/>
              </a:rPr>
              <a:t>  [X] </a:t>
            </a:r>
            <a:r>
              <a:rPr sz="1500" b="0">
                <a:solidFill>
                  <a:srgbClr val="3C3C3C"/>
                </a:solidFill>
                <a:latin typeface="Times New Roman"/>
              </a:rPr>
              <a:t>Trained and verified Document Domain Classifier with 100% accuracy and 1.0000 CV F1.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8000"/>
                </a:solidFill>
                <a:latin typeface="Times New Roman"/>
              </a:rPr>
              <a:t>  [X] </a:t>
            </a:r>
            <a:r>
              <a:rPr sz="1500" b="0">
                <a:solidFill>
                  <a:srgbClr val="3C3C3C"/>
                </a:solidFill>
                <a:latin typeface="Times New Roman"/>
              </a:rPr>
              <a:t>Developed Clause Risk Classifier (98.46% CV F1) and 25-class Clause Category Classifier.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8000"/>
                </a:solidFill>
                <a:latin typeface="Times New Roman"/>
              </a:rPr>
              <a:t>  [X] </a:t>
            </a:r>
            <a:r>
              <a:rPr sz="1500" b="0">
                <a:solidFill>
                  <a:srgbClr val="3C3C3C"/>
                </a:solidFill>
                <a:latin typeface="Times New Roman"/>
              </a:rPr>
              <a:t>Implemented TF-IDF Centroid Extractive Summarizer and Information Extractor.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8000"/>
                </a:solidFill>
                <a:latin typeface="Times New Roman"/>
              </a:rPr>
              <a:t>  [X] </a:t>
            </a:r>
            <a:r>
              <a:rPr sz="1500" b="0">
                <a:solidFill>
                  <a:srgbClr val="3C3C3C"/>
                </a:solidFill>
                <a:latin typeface="Times New Roman"/>
              </a:rPr>
              <a:t>Created Full-Stack interactive web analyzer with real-time risk gauges and PDF exports.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F6A0D"/>
                </a:solidFill>
                <a:latin typeface="Times New Roman"/>
              </a:rPr>
              <a:t>Planned Work for Final Review (Review 3):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70C0"/>
                </a:solidFill>
                <a:latin typeface="Times New Roman"/>
              </a:rPr>
              <a:t>  [ ] </a:t>
            </a:r>
            <a:r>
              <a:rPr sz="1500" b="0">
                <a:solidFill>
                  <a:srgbClr val="3C3C3C"/>
                </a:solidFill>
                <a:latin typeface="Times New Roman"/>
              </a:rPr>
              <a:t>Multilingual Translation: Integrate Indic NLP for regional Indian languages (Telugu, Hindi, Tamil).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70C0"/>
                </a:solidFill>
                <a:latin typeface="Times New Roman"/>
              </a:rPr>
              <a:t>  [ ] </a:t>
            </a:r>
            <a:r>
              <a:rPr sz="1500" b="0">
                <a:solidFill>
                  <a:srgbClr val="3C3C3C"/>
                </a:solidFill>
                <a:latin typeface="Times New Roman"/>
              </a:rPr>
              <a:t>Voice Interaction: Add Speech-to-Text (Whisper) for voice-driven legal queries for non-literate users.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70C0"/>
                </a:solidFill>
                <a:latin typeface="Times New Roman"/>
              </a:rPr>
              <a:t>  [ ] </a:t>
            </a:r>
            <a:r>
              <a:rPr sz="1500" b="0">
                <a:solidFill>
                  <a:srgbClr val="3C3C3C"/>
                </a:solidFill>
                <a:latin typeface="Times New Roman"/>
              </a:rPr>
              <a:t>Cloud Deployment: Production containerization (Docker) and deployment on cloud hosting.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88720" cy="4343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68880" y="274320"/>
            <a:ext cx="5120640" cy="457200"/>
          </a:xfrm>
          <a:prstGeom prst="roundRect">
            <a:avLst/>
          </a:prstGeom>
          <a:solidFill>
            <a:srgbClr val="FF6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Times New Roman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50000"/>
            <a:ext cx="8595360" cy="6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141414"/>
                </a:solidFill>
                <a:latin typeface="Times New Roman"/>
              </a:rPr>
              <a:t>Summary of Review 2 Achievements:</a:t>
            </a:r>
            <a:r>
              <a:rPr sz="1650" b="0">
                <a:solidFill>
                  <a:srgbClr val="3C3C3C"/>
                </a:solidFill>
                <a:latin typeface="Times New Roman"/>
              </a:rPr>
              <a:t> The AI Legal Assistant (LexAI) provides an automated, NLP-grounded framework to simplify complex Indian legal contracts for everyday citizens and businesses.</a:t>
            </a:r>
          </a:p>
          <a:p>
            <a:pPr>
              <a:spcAft>
                <a:spcPts val="600"/>
              </a:spcAft>
            </a:pPr>
            <a:r>
              <a:rPr sz="1650" b="1">
                <a:solidFill>
                  <a:srgbClr val="FF6A0D"/>
                </a:solidFill>
                <a:latin typeface="Times New Roman"/>
              </a:rPr>
              <a:t>Key Technical Accomplishments: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Complete NLP Pipeline: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Ingestion, text cleaning, tokenization, clause boundary segmentation, and entity extraction.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High-Accuracy ML Models: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Document Classifier (100% test accuracy), Clause Risk Classifier (98.46% CV F1), and Clause Category Classifier.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Hallucination-Free Summarization: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TF-IDF Centroid extractive summarization with legal deontic weighting ensuring 100% factual accuracy.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Grounded in Indian Jurisprudence: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Directly aligned with Transfer of Property Act 1882, Motor Vehicles Act 1988, SARFAESI Act 2002, and RBI Gold Loan directions.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2D5F"/>
                </a:solidFill>
                <a:latin typeface="Times New Roman"/>
              </a:rPr>
              <a:t>  * Functional Full-Stack System: </a:t>
            </a:r>
            <a:r>
              <a:rPr sz="1550" b="0">
                <a:solidFill>
                  <a:srgbClr val="3C3C3C"/>
                </a:solidFill>
                <a:latin typeface="Times New Roman"/>
              </a:rPr>
              <a:t>Demonstrated working React UI with risk dashboards, clause audits, and structured report exports.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8000"/>
                </a:solidFill>
                <a:latin typeface="Times New Roman"/>
              </a:rPr>
              <a:t>Closing Statement: </a:t>
            </a:r>
            <a:r>
              <a:rPr sz="1600" b="0">
                <a:solidFill>
                  <a:srgbClr val="3C3C3C"/>
                </a:solidFill>
                <a:latin typeface="Times New Roman"/>
              </a:rPr>
              <a:t>Review-2 successfully fulfills all technical requirements and establishes a solid foundation for final multilingual and speech-assisted enhancements.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88720" cy="4343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600000"/>
            <a:ext cx="82296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7030A0"/>
                </a:solidFill>
                <a:latin typeface="Times New Roman"/>
              </a:rPr>
              <a:t>THANK YOU</a:t>
            </a:r>
          </a:p>
          <a:p>
            <a:pPr algn="ctr">
              <a:spcBef>
                <a:spcPts val="1600"/>
              </a:spcBef>
            </a:pPr>
            <a:r>
              <a:rPr sz="2200">
                <a:solidFill>
                  <a:srgbClr val="3C3C3C"/>
                </a:solidFill>
                <a:latin typeface="Times New Roman"/>
              </a:rPr>
              <a:t>Questions &amp; Feedback Welcome
AI Legal Assistant Project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